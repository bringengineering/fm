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6"/>
                </a:solidFill>
                <a:latin typeface="맑은 고딕"/>
              </a:defRPr>
            </a:pPr>
            <a:r>
              <a:rPr sz="1300" b="0" i="0" u="none" strike="noStrike">
                <a:solidFill>
                  <a:srgbClr val="1B2436"/>
                </a:solidFill>
                <a:latin typeface="맑은 고딕"/>
              </a:rPr>
              <a:t>100동 기준 이익 구성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이익 구성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A441"/>
              </a:solidFill>
              <a:effectLst/>
            </c:spPr>
          </c:dPt>
          <c:dPt>
            <c:idx val="1"/>
            <c:bubble3D val="0"/>
            <c:spPr>
              <a:solidFill>
                <a:srgbClr val="12213B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결합서비스</c:v>
                </c:pt>
                <c:pt idx="1">
                  <c:v>기본 관리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44</c:v>
                </c:pt>
                <c:pt idx="1">
                  <c:v>56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6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rgbClr val="1221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6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유효문의</c:v>
                  </c:pt>
                  <c:pt idx="1">
                    <c:v>현장견적</c:v>
                  </c:pt>
                  <c:pt idx="2">
                    <c:v>신규계약(동)</c:v>
                  </c:pt>
                  <c:pt idx="3">
                    <c:v>통합관리(동)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15</c:v>
                </c:pt>
                <c:pt idx="2">
                  <c:v>8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6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6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영업손익(만원)</c:v>
                </c:pt>
              </c:strCache>
            </c:strRef>
          </c:tx>
          <c:spPr>
            <a:solidFill>
              <a:srgbClr val="12213B"/>
            </a:solidFill>
            <a:ln w="38100" cap="flat">
              <a:solidFill>
                <a:srgbClr val="1221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6"/>
                    </a:solidFill>
                    <a:latin typeface="맑은 고딕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2213B"/>
              </a:solidFill>
              <a:ln w="9525" cap="flat">
                <a:solidFill>
                  <a:srgbClr val="1221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6동</c:v>
                  </c:pt>
                  <c:pt idx="1">
                    <c:v>20동</c:v>
                  </c:pt>
                  <c:pt idx="2">
                    <c:v>35동</c:v>
                  </c:pt>
                  <c:pt idx="3">
                    <c:v>55동</c:v>
                  </c:pt>
                  <c:pt idx="4">
                    <c:v>70동</c:v>
                  </c:pt>
                  <c:pt idx="5">
                    <c:v>100동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-250</c:v>
                </c:pt>
                <c:pt idx="1">
                  <c:v>-90</c:v>
                </c:pt>
                <c:pt idx="2">
                  <c:v>5</c:v>
                </c:pt>
                <c:pt idx="3">
                  <c:v>80</c:v>
                </c:pt>
                <c:pt idx="4">
                  <c:v>-30</c:v>
                </c:pt>
                <c:pt idx="5">
                  <c:v>256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6"/>
                  </a:solidFill>
                  <a:latin typeface="맑은 고딕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6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884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7ECF4"/>
                </a:solidFill>
                <a:latin typeface="맑은 고딕"/>
              </a:defRPr>
            </a:pPr>
            <a:r>
              <a:rPr sz="1300" b="0" i="0" u="none" strike="noStrike">
                <a:solidFill>
                  <a:srgbClr val="E7ECF4"/>
                </a:solidFill>
                <a:latin typeface="맑은 고딕"/>
              </a:rPr>
              <a:t>자금 사용처(안)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사용처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A441"/>
              </a:solidFill>
              <a:effectLst/>
            </c:spPr>
          </c:dPt>
          <c:dPt>
            <c:idx val="1"/>
            <c:bubble3D val="0"/>
            <c:spPr>
              <a:solidFill>
                <a:srgbClr val="2E7DA6"/>
              </a:solidFill>
              <a:effectLst/>
            </c:spPr>
          </c:dPt>
          <c:dPt>
            <c:idx val="2"/>
            <c:bubble3D val="0"/>
            <c:spPr>
              <a:solidFill>
                <a:srgbClr val="6E86A8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2213B"/>
                      </a:solidFill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2213B"/>
                      </a:solidFill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2213B"/>
                      </a:solidFill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인력</c:v>
                </c:pt>
                <c:pt idx="1">
                  <c:v>시스템</c:v>
                </c:pt>
                <c:pt idx="2">
                  <c:v>춘천 확장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7ECF4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한 줄 정의 + 라운드. 첫인상.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장 요약. 무엇을/어디까지/무엇으로/무엇을 요청 + 핵심 스탯.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문제. 큰 통증일수록 좋다. 공실=트리거.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타이밍. 3신호 icon-row.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솔루션. 15만 vs 8.9만 대비.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 9단계 프로세스 + Building OS. 표준화 증명.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서비스 5종+가격. 정찰제.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시장 TAM/SAM/SOM. 로컬→확장. TAM은 추정 표기.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BM. 지속수익+결합. 도넛 이익구성 44/56.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유닛이코노믹스. 가정 vs 확정 정직 표기.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트랙션. 4 stat + 연내 목표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Moat. ValueScope+표준+밀집. 모방 방어.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경쟁. 4유형 비교표. 브링 열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팀. 3인 균형. 도메인+엔지니어 강점.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재무 line chart. 70동 함정 정직 표기.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로드맵 S0~S3 타임라인.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4방법. 현실경로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리스크 5종 + 대응. 선제 방어.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Ask. 1억/지분10%/사용처 도넛.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인덱스 + 연락처 + 클로징.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13B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18288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0355C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828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BUILDING 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2286000"/>
            <a:ext cx="1105509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브링케어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9C8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소형 임대건물을 하나의 관리구역으로 묶는 지역 공동관리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“혼자 관리하면 15만 원,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관리하면 8.9만 원”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5440680"/>
            <a:ext cx="11055096" cy="0"/>
          </a:xfrm>
          <a:prstGeom prst="line">
            <a:avLst/>
          </a:prstGeom>
          <a:noFill/>
          <a:ln w="12700">
            <a:solidFill>
              <a:srgbClr val="2C3E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5577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브링엔지니어링 · 대표 서창환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53912" y="55321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Seed · 1억 원 · Pre-money 9억 · 지분 10%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53912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08 · 투자유치 자료 (IR)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— 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브링케어가 무엇을, 어디까지 했고, 무엇을 요청하는가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2571750" cy="1828800"/>
          </a:xfrm>
          <a:prstGeom prst="roundRect">
            <a:avLst>
              <a:gd name="adj" fmla="val 4500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783080"/>
            <a:ext cx="21694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2167128"/>
            <a:ext cx="216941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소형 다가구 건물을 권역 단위로 묶어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공실~관리까지 끊김 없이 운영하는 Building 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94710" y="1600200"/>
            <a:ext cx="2571750" cy="1828800"/>
          </a:xfrm>
          <a:prstGeom prst="roundRect">
            <a:avLst>
              <a:gd name="adj" fmla="val 4500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95878" y="1783080"/>
            <a:ext cx="21694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어디까지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95878" y="2167128"/>
            <a:ext cx="216941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건물관리 7동 · 공용부청소 7곳 ·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입주청소 10건+ · 수리 12건 (실계약·실매출)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22492" y="1600200"/>
            <a:ext cx="2571750" cy="1828800"/>
          </a:xfrm>
          <a:prstGeom prst="roundRect">
            <a:avLst>
              <a:gd name="adj" fmla="val 4500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3660" y="1783080"/>
            <a:ext cx="21694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23660" y="2167128"/>
            <a:ext cx="216941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관리비 지속수익 + 결합서비스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지역 데이터 해자(ValueScope)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0274" y="1600200"/>
            <a:ext cx="2571750" cy="1828800"/>
          </a:xfrm>
          <a:prstGeom prst="roundRect">
            <a:avLst>
              <a:gd name="adj" fmla="val 4500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1442" y="1783080"/>
            <a:ext cx="21694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요청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51442" y="2167128"/>
            <a:ext cx="216941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1억 원 (Pre 9억 · 지분 10%)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인력·시스템·춘천 사전진입에 투입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794760"/>
            <a:ext cx="25717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6→100동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66928" y="4453128"/>
            <a:ext cx="25717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건물 목표 경로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94710" y="3794760"/>
            <a:ext cx="25717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89,000원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394710" y="4453128"/>
            <a:ext cx="25717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동당 월 관리비(공동관리)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22492" y="3794760"/>
            <a:ext cx="25717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24,933건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222492" y="4453128"/>
            <a:ext cx="25717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ValueScope 원주 건물 데이터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50274" y="3794760"/>
            <a:ext cx="257175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17.8%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050274" y="4453128"/>
            <a:ext cx="25717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100동 시 영업이익률(모델)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580644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‘말로 만든 서비스가 아니라, 실제 현장에서 만들고 있는 관리체계입니다.’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— 건물주는 공실·관리를 혼자 감당한다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분산·비효율·고비용. 공실은 건물주가 가장 크게 아파하는 지점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8836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213B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83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25146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= 즉각적 손실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" y="29718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퇴실~공실~재임대까지 며칠이 걸렸는지 아무도 숫자로 관리하지 않는다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62856" y="18836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21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62856" y="1883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62856" y="25146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관리의 단절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62856" y="29718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청소·수리·중개가 따로 논다. 건물주가 매번 다른 업체를 직접 붙여야 한다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19872" y="164592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9328" y="18836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2213B"/>
          </a:solidFill>
          <a:ln/>
        </p:spPr>
      </p:sp>
      <p:sp>
        <p:nvSpPr>
          <p:cNvPr id="17" name="Text 15"/>
          <p:cNvSpPr/>
          <p:nvPr/>
        </p:nvSpPr>
        <p:spPr>
          <a:xfrm>
            <a:off x="8339328" y="1883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39328" y="25146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개별관리 고비용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39328" y="29718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하나만 단독 관리하면 월 15만 원 — 규모의 이점이 없다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4114800"/>
            <a:ext cx="11055096" cy="1371600"/>
          </a:xfrm>
          <a:prstGeom prst="roundRect">
            <a:avLst>
              <a:gd name="adj" fmla="val 6667"/>
            </a:avLst>
          </a:prstGeom>
          <a:solidFill>
            <a:srgbClr val="FBF3E2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114800"/>
            <a:ext cx="103235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관리하면 </a:t>
            </a:r>
            <a:pPr indent="0" marL="0">
              <a:buNone/>
            </a:pPr>
            <a:r>
              <a:rPr lang="en-US" sz="2000" b="1" dirty="0">
                <a:solidFill>
                  <a:srgbClr val="C25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15만 원</a:t>
            </a:r>
            <a:pPr indent="0" marL="0">
              <a:buNone/>
            </a:pPr>
            <a:r>
              <a:rPr lang="en-US" sz="20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 건물주가 움직이는 트리거는 결국 </a:t>
            </a:r>
            <a:pPr indent="0" marL="0">
              <a:buNone/>
            </a:pPr>
            <a:r>
              <a:rPr lang="en-US" sz="20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‘공실’</a:t>
            </a:r>
            <a:pPr indent="0" marL="0">
              <a:buNone/>
            </a:pPr>
            <a:r>
              <a:rPr lang="en-US" sz="20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이다.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지금인가 — Why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수요·공급·기술 세 신호가 동시에 열렸다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916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35608" y="1673352"/>
            <a:ext cx="10140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 구조 변화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35608" y="2130552"/>
            <a:ext cx="10140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가구 증가·학기/전입 리듬으로 소형 임대 수요는 상시. 그러나 관리 공백은 그대로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06324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0632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35608" y="3044952"/>
            <a:ext cx="10140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 다가구·공실 심화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35608" y="3502152"/>
            <a:ext cx="10140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다가구 5,129동. 노후·공실이 늘며 ‘운영으로 가치를 지키는’ 수요 발생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443484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44348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35608" y="4416552"/>
            <a:ext cx="10140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데이터·자동화로 규모화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35608" y="4873752"/>
            <a:ext cx="10140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CRM·지역 데이터로 예전엔 불가능하던 소형 건물의 ‘규모 있는 관리’가 가능해짐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 — 지역 공동관리 Zone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권역의 여러 건물을 하나의 관리구역으로 묶어 공동 운영한다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1C2D4A"/>
          </a:solidFill>
          <a:ln w="12700">
            <a:solidFill>
              <a:srgbClr val="3345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697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D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관리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31089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9FB0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15만 원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32688" y="4160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1동 단독 · 규모의 이점 없음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53328" y="246888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2A2415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2697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C8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공동관리 (5동+)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31089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8.9만 원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419088" y="4160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권역 묶음 · 이동·점검·대응 공동 운영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5120640"/>
            <a:ext cx="11055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9C8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“우산동 전체를 하나의 가상 아파트 단지처럼 관리한다.”  —  건물의 한 사이클을 끊기지 않게.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작동하나 — 운영 9단계 사이클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건물의 한 사이클을 끊김 없이. SOP 26종으로 표준화된 Building OS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098296" cy="1371600"/>
          </a:xfrm>
          <a:prstGeom prst="roundRect">
            <a:avLst>
              <a:gd name="adj" fmla="val 6660"/>
            </a:avLst>
          </a:prstGeom>
          <a:solidFill>
            <a:srgbClr val="EAF0F8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993392"/>
            <a:ext cx="109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확보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" y="2487168"/>
            <a:ext cx="10251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문의·실사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46936" y="22402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11528" y="1828800"/>
            <a:ext cx="1098296" cy="1371600"/>
          </a:xfrm>
          <a:prstGeom prst="roundRect">
            <a:avLst>
              <a:gd name="adj" fmla="val 6660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11528" y="1993392"/>
            <a:ext cx="109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퇴실예정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48104" y="2487168"/>
            <a:ext cx="10251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사전안내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91536" y="22402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56128" y="1828800"/>
            <a:ext cx="1098296" cy="1371600"/>
          </a:xfrm>
          <a:prstGeom prst="roundRect">
            <a:avLst>
              <a:gd name="adj" fmla="val 6660"/>
            </a:avLst>
          </a:prstGeom>
          <a:solidFill>
            <a:srgbClr val="EAF0F8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6128" y="1993392"/>
            <a:ext cx="109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퇴실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92704" y="2487168"/>
            <a:ext cx="10251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증거·판정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36136" y="22402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00728" y="1828800"/>
            <a:ext cx="1098296" cy="1371600"/>
          </a:xfrm>
          <a:prstGeom prst="roundRect">
            <a:avLst>
              <a:gd name="adj" fmla="val 6660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00728" y="1993392"/>
            <a:ext cx="109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리셋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37304" y="2487168"/>
            <a:ext cx="10251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견적·검수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80736" y="22402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45328" y="1828800"/>
            <a:ext cx="1098296" cy="1371600"/>
          </a:xfrm>
          <a:prstGeom prst="roundRect">
            <a:avLst>
              <a:gd name="adj" fmla="val 6660"/>
            </a:avLst>
          </a:prstGeom>
          <a:solidFill>
            <a:srgbClr val="EAF0F8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45328" y="1993392"/>
            <a:ext cx="109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공실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81904" y="2487168"/>
            <a:ext cx="10251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촬영·가격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25336" y="22402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89928" y="1828800"/>
            <a:ext cx="1098296" cy="1371600"/>
          </a:xfrm>
          <a:prstGeom prst="roundRect">
            <a:avLst>
              <a:gd name="adj" fmla="val 6660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9928" y="1993392"/>
            <a:ext cx="109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계약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26504" y="2487168"/>
            <a:ext cx="10251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확인·광고종료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69936" y="22402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34528" y="1828800"/>
            <a:ext cx="1098296" cy="1371600"/>
          </a:xfrm>
          <a:prstGeom prst="roundRect">
            <a:avLst>
              <a:gd name="adj" fmla="val 6660"/>
            </a:avLst>
          </a:prstGeom>
          <a:solidFill>
            <a:srgbClr val="EAF0F8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34528" y="1993392"/>
            <a:ext cx="109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입주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71104" y="2487168"/>
            <a:ext cx="10251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검수·키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14536" y="22402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279128" y="1828800"/>
            <a:ext cx="1098296" cy="1371600"/>
          </a:xfrm>
          <a:prstGeom prst="roundRect">
            <a:avLst>
              <a:gd name="adj" fmla="val 6660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79128" y="1993392"/>
            <a:ext cx="109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거주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315704" y="2487168"/>
            <a:ext cx="10251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티켓·순회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359136" y="22402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523728" y="1828800"/>
            <a:ext cx="1098296" cy="1371600"/>
          </a:xfrm>
          <a:prstGeom prst="roundRect">
            <a:avLst>
              <a:gd name="adj" fmla="val 6660"/>
            </a:avLst>
          </a:prstGeom>
          <a:solidFill>
            <a:srgbClr val="EAF0F8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23728" y="1993392"/>
            <a:ext cx="109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개선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560304" y="2487168"/>
            <a:ext cx="10251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회고·SOP개정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" y="3749040"/>
            <a:ext cx="11055096" cy="1554480"/>
          </a:xfrm>
          <a:prstGeom prst="roundRect">
            <a:avLst>
              <a:gd name="adj" fmla="val 5294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86968" y="39502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Building OS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86968" y="4343400"/>
            <a:ext cx="104150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Building ID(건물·세대 데이터) → CRM(건물주·임차인·영업) → AI 민원 분류 → 자동 업무배정 → 공실 Workflow → 운영 데이터 축적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86968" y="4892040"/>
            <a:ext cx="10415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민원 케이스 ①~⑰ 단계 워크플로 · 알림톡 · 전후 사진 · 관리자 화면 v5.39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&amp; 가격 — 확정 가격표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작업자가 현장에서 임의로 올릴 수 없는 정찰제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600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58768" y="1600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19088" y="1600200"/>
            <a:ext cx="5202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11055096" cy="658368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01168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공동관리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58768" y="20116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89,000원 / 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19088" y="2011680"/>
            <a:ext cx="5020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권역 5동+ · 월 2회 정기점검·문의접수·현장관리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2670048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건물관리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58768" y="267004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150,000원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19088" y="2670048"/>
            <a:ext cx="5020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단독 건물 관리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328416"/>
            <a:ext cx="11055096" cy="658368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328416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공용부 청소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58768" y="332841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60,000~80,000원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19088" y="3328416"/>
            <a:ext cx="5020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3·4·5층별 · 월 4회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3986784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입주·퇴실 청소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58768" y="398678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100,000원부터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19088" y="3986784"/>
            <a:ext cx="5020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평수별 정찰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645152"/>
            <a:ext cx="11055096" cy="658368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64515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전문작업 관리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58768" y="464515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실작업액의 5%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19088" y="4645152"/>
            <a:ext cx="5020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마크업 5% 확정 (수리·공사 연결·완료확인)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" y="530352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공간기획·공사관리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58768" y="530352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견적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19088" y="5303520"/>
            <a:ext cx="50200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기획비 + 7~10%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6099048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관리비 포함: 월 2회 정기점검 · 문의 접수 · 공용부 확인 · 입·퇴실 현장관리 · 전문업체 연결 · 완료 확인 · 사진 보고   |   실제 수리·청소·공사비는 별도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— 좁게 독점하고 넓게 확장한다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TAM/SAM/SOM · 원주에서 검증 후 전국 소형 임대건물 관리로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81965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5528" y="2295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2F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(우산동 등)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10896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1B2E4E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323697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5528" y="37124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F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다가구 전체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526280"/>
            <a:ext cx="5669280" cy="1143000"/>
          </a:xfrm>
          <a:prstGeom prst="roundRect">
            <a:avLst>
              <a:gd name="adj" fmla="val 6400"/>
            </a:avLst>
          </a:prstGeom>
          <a:solidFill>
            <a:srgbClr val="12213B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46542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95528" y="512978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F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소형 임대건물 관리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67728" y="1691640"/>
            <a:ext cx="4654296" cy="3977640"/>
          </a:xfrm>
          <a:prstGeom prst="roundRect">
            <a:avLst>
              <a:gd name="adj" fmla="val 2069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42048" y="1920240"/>
            <a:ext cx="4105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 근거 (ValueScope 실데이터)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42048" y="2331720"/>
            <a:ext cx="4105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5,129동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42048" y="2788920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다가구 건물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242048" y="3127248"/>
            <a:ext cx="4105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26,825세대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42048" y="3584448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다가구 세대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242048" y="3922776"/>
            <a:ext cx="4105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24,933건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42048" y="43799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데이터 수집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242048" y="4718304"/>
            <a:ext cx="4105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786곳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42048" y="5175504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공인중개사(영업지도)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 모델 — 팔수록 흑자인 지속수익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관리비(로열티형) + 결합서비스. 이익의 44%가 결합에서 나온다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669280" cy="3977640"/>
          </a:xfrm>
          <a:prstGeom prst="roundRect">
            <a:avLst>
              <a:gd name="adj" fmla="val 2069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019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개의 수익 기둥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331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지속수익 (구독형)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7432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관리비 89,000원/동 — 매달 반복되는 안정 매출. 선진국형 로열티 구조와 동형.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3749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결합서비스 (마진)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41605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청소·수리·전문작업(5%)·공간기획. 관리 고객에게 자연 확장 판매.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693408" y="1783080"/>
          <a:ext cx="4928616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유닛 이코노믹스 — 동당 경제성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가정을 실측으로 검증 중. 이 검증이 곧 투자 설득력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257175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057400"/>
            <a:ext cx="22059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89,000원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2834640"/>
            <a:ext cx="22059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동당 월 관리비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29843" y="331012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4F3EB"/>
          </a:solidFill>
          <a:ln/>
        </p:spPr>
      </p:sp>
      <p:sp>
        <p:nvSpPr>
          <p:cNvPr id="9" name="Text 7"/>
          <p:cNvSpPr/>
          <p:nvPr/>
        </p:nvSpPr>
        <p:spPr>
          <a:xfrm>
            <a:off x="1029843" y="331012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94710" y="1737360"/>
            <a:ext cx="257175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77590" y="2057400"/>
            <a:ext cx="22059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55동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77590" y="2834640"/>
            <a:ext cx="22059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관리 용량(가정)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57625" y="331012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BF3E2"/>
          </a:solidFill>
          <a:ln/>
        </p:spPr>
      </p:sp>
      <p:sp>
        <p:nvSpPr>
          <p:cNvPr id="14" name="Text 12"/>
          <p:cNvSpPr/>
          <p:nvPr/>
        </p:nvSpPr>
        <p:spPr>
          <a:xfrm>
            <a:off x="3857625" y="331012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7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 타임로그 검증중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22492" y="1737360"/>
            <a:ext cx="257175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5372" y="2057400"/>
            <a:ext cx="22059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90분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05372" y="2834640"/>
            <a:ext cx="22059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동당 월 업무시간(가정)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85407" y="331012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BF3E2"/>
          </a:solidFill>
          <a:ln/>
        </p:spPr>
      </p:sp>
      <p:sp>
        <p:nvSpPr>
          <p:cNvPr id="19" name="Text 17"/>
          <p:cNvSpPr/>
          <p:nvPr/>
        </p:nvSpPr>
        <p:spPr>
          <a:xfrm>
            <a:off x="6685407" y="331012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7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예정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0274" y="1737360"/>
            <a:ext cx="257175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33154" y="2057400"/>
            <a:ext cx="22059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233154" y="2834640"/>
            <a:ext cx="22059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공용부 결합률 목표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513189" y="3310128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BF3E2"/>
          </a:solidFill>
          <a:ln/>
        </p:spPr>
      </p:sp>
      <p:sp>
        <p:nvSpPr>
          <p:cNvPr id="24" name="Text 22"/>
          <p:cNvSpPr/>
          <p:nvPr/>
        </p:nvSpPr>
        <p:spPr>
          <a:xfrm>
            <a:off x="9513189" y="331012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7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6동 실측중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114800"/>
            <a:ext cx="11055096" cy="1325880"/>
          </a:xfrm>
          <a:prstGeom prst="roundRect">
            <a:avLst>
              <a:gd name="adj" fmla="val 6897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114800"/>
            <a:ext cx="1032357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원칙: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“6동의 실제 원가를 재는 것이 100동 계획보다 먼저다.”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25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규모를 무작정 키우면 56~75동 구간은 오히려 적자(다음 장).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트랙션 — 이미 현장에서 만들고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 기준 실계약·실매출 (말이 아니라 실적)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2571750" cy="164592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2011680"/>
            <a:ext cx="257175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7동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66928" y="2834640"/>
            <a:ext cx="25717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건물관리 계약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94710" y="1737360"/>
            <a:ext cx="2571750" cy="164592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94710" y="2011680"/>
            <a:ext cx="257175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7곳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94710" y="2834640"/>
            <a:ext cx="25717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공용부 정기청소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22492" y="1737360"/>
            <a:ext cx="2571750" cy="164592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22492" y="2011680"/>
            <a:ext cx="257175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10건+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222492" y="2834640"/>
            <a:ext cx="25717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입주청소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0274" y="1737360"/>
            <a:ext cx="2571750" cy="164592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50274" y="2011680"/>
            <a:ext cx="257175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12건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050274" y="2834640"/>
            <a:ext cx="25717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수리·유지보수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연내 목표</a:t>
            </a:r>
            <a:endParaRPr lang="en-US" sz="14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66928" y="4023360"/>
          <a:ext cx="11055096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해자 — 청소업체가 못 따라오는 자산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서비스는 흉내내도, 지역 데이터·운영 표준·밀집 선점은 복제할 수 없다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3502152" cy="2468880"/>
          </a:xfrm>
          <a:prstGeom prst="roundRect">
            <a:avLst>
              <a:gd name="adj" fmla="val 3704"/>
            </a:avLst>
          </a:prstGeom>
          <a:solidFill>
            <a:srgbClr val="1B2C48"/>
          </a:solidFill>
          <a:ln w="12700">
            <a:solidFill>
              <a:srgbClr val="3345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74320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ValueScope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9900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24,933건 · 실거래 밴드 · 상권분석(앵커 16) · 밸류업 엔진(218 tests)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468880"/>
            <a:ext cx="3502152" cy="2468880"/>
          </a:xfrm>
          <a:prstGeom prst="roundRect">
            <a:avLst>
              <a:gd name="adj" fmla="val 3704"/>
            </a:avLst>
          </a:prstGeom>
          <a:solidFill>
            <a:srgbClr val="1B2C48"/>
          </a:solidFill>
          <a:ln w="12700">
            <a:solidFill>
              <a:srgbClr val="3345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74320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99432" y="338328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표준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9432" y="3886200"/>
            <a:ext cx="29900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SOP 26종 · 민원 케이스 ①~⑰ · CRM 1.7.0 · AI 민원 분류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19872" y="2468880"/>
            <a:ext cx="3502152" cy="2468880"/>
          </a:xfrm>
          <a:prstGeom prst="roundRect">
            <a:avLst>
              <a:gd name="adj" fmla="val 3704"/>
            </a:avLst>
          </a:prstGeom>
          <a:solidFill>
            <a:srgbClr val="1B2C48"/>
          </a:solidFill>
          <a:ln w="12700">
            <a:solidFill>
              <a:srgbClr val="3345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5904" y="274320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75904" y="338328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밀집 선점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75904" y="3886200"/>
            <a:ext cx="29900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150m 밀집블록 218개 · 중개사 786곳 CRM = 권역 네트워크 효과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521208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8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경쟁우위는 ‘차별성’이 아니라 ‘지속가능한 경쟁력’ — 데이터·표준·밀집이 그 답이다.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 구도 — 가장 큰 경쟁자는 ‘직접 관리’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가격이 아니라 시간·리스크·책임경계·데이터로 이긴다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828800" cy="749808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737360"/>
            <a:ext cx="16093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395728" y="1737360"/>
            <a:ext cx="2377440" cy="749808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8" name="Text 6"/>
          <p:cNvSpPr/>
          <p:nvPr/>
        </p:nvSpPr>
        <p:spPr>
          <a:xfrm>
            <a:off x="2505456" y="1737360"/>
            <a:ext cx="21579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건물주 직접관리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73168" y="1737360"/>
            <a:ext cx="2286000" cy="749808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10" name="Text 8"/>
          <p:cNvSpPr/>
          <p:nvPr/>
        </p:nvSpPr>
        <p:spPr>
          <a:xfrm>
            <a:off x="4882896" y="1737360"/>
            <a:ext cx="20665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청소업체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59168" y="1737360"/>
            <a:ext cx="2103120" cy="749808"/>
          </a:xfrm>
          <a:prstGeom prst="rect">
            <a:avLst/>
          </a:prstGeom>
          <a:solidFill>
            <a:srgbClr val="E7ECF4"/>
          </a:solidFill>
          <a:ln/>
        </p:spPr>
      </p:sp>
      <p:sp>
        <p:nvSpPr>
          <p:cNvPr id="12" name="Text 10"/>
          <p:cNvSpPr/>
          <p:nvPr/>
        </p:nvSpPr>
        <p:spPr>
          <a:xfrm>
            <a:off x="7168896" y="1737360"/>
            <a:ext cx="18836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중개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62288" y="1737360"/>
            <a:ext cx="2459736" cy="749808"/>
          </a:xfrm>
          <a:prstGeom prst="rect">
            <a:avLst/>
          </a:prstGeom>
          <a:solidFill>
            <a:srgbClr val="12213B"/>
          </a:solidFill>
          <a:ln/>
        </p:spPr>
      </p:sp>
      <p:sp>
        <p:nvSpPr>
          <p:cNvPr id="14" name="Text 12"/>
          <p:cNvSpPr/>
          <p:nvPr/>
        </p:nvSpPr>
        <p:spPr>
          <a:xfrm>
            <a:off x="9272016" y="1737360"/>
            <a:ext cx="2240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브링케어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6656" y="2487168"/>
            <a:ext cx="16093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05456" y="2487168"/>
            <a:ext cx="21579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0원(시간·리스크 큼)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82896" y="2487168"/>
            <a:ext cx="20665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저렴·단발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68896" y="2487168"/>
            <a:ext cx="18836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중개보수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62288" y="2487168"/>
            <a:ext cx="2459736" cy="749808"/>
          </a:xfrm>
          <a:prstGeom prst="rect">
            <a:avLst/>
          </a:prstGeom>
          <a:solidFill>
            <a:srgbClr val="FBF3E2"/>
          </a:solidFill>
          <a:ln/>
        </p:spPr>
      </p:sp>
      <p:sp>
        <p:nvSpPr>
          <p:cNvPr id="20" name="Text 18"/>
          <p:cNvSpPr/>
          <p:nvPr/>
        </p:nvSpPr>
        <p:spPr>
          <a:xfrm>
            <a:off x="9272016" y="2487168"/>
            <a:ext cx="2240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정액+결합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3236976"/>
            <a:ext cx="1828800" cy="749808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236976"/>
            <a:ext cx="16093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책임경계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395728" y="3236976"/>
            <a:ext cx="2377440" cy="749808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2505456" y="3236976"/>
            <a:ext cx="21579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본인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73168" y="3236976"/>
            <a:ext cx="2286000" cy="749808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4882896" y="3236976"/>
            <a:ext cx="20665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청소만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059168" y="3236976"/>
            <a:ext cx="2103120" cy="749808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7168896" y="3236976"/>
            <a:ext cx="18836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62288" y="3236976"/>
            <a:ext cx="2459736" cy="749808"/>
          </a:xfrm>
          <a:prstGeom prst="rect">
            <a:avLst/>
          </a:prstGeom>
          <a:solidFill>
            <a:srgbClr val="FBF3E2"/>
          </a:solidFill>
          <a:ln/>
        </p:spPr>
      </p:sp>
      <p:sp>
        <p:nvSpPr>
          <p:cNvPr id="30" name="Text 28"/>
          <p:cNvSpPr/>
          <p:nvPr/>
        </p:nvSpPr>
        <p:spPr>
          <a:xfrm>
            <a:off x="9272016" y="3236976"/>
            <a:ext cx="2240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통합·SLA 명문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" y="3986784"/>
            <a:ext cx="16093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대응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05456" y="3986784"/>
            <a:ext cx="21579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느림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82896" y="3986784"/>
            <a:ext cx="20665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해당없음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68896" y="3986784"/>
            <a:ext cx="18836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위주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162288" y="3986784"/>
            <a:ext cx="2459736" cy="749808"/>
          </a:xfrm>
          <a:prstGeom prst="rect">
            <a:avLst/>
          </a:prstGeom>
          <a:solidFill>
            <a:srgbClr val="FBF3E2"/>
          </a:solidFill>
          <a:ln/>
        </p:spPr>
      </p:sp>
      <p:sp>
        <p:nvSpPr>
          <p:cNvPr id="36" name="Text 34"/>
          <p:cNvSpPr/>
          <p:nvPr/>
        </p:nvSpPr>
        <p:spPr>
          <a:xfrm>
            <a:off x="9272016" y="3986784"/>
            <a:ext cx="2240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시계·퍼널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6928" y="4736592"/>
            <a:ext cx="1828800" cy="749808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" y="4736592"/>
            <a:ext cx="16093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395728" y="4736592"/>
            <a:ext cx="2377440" cy="749808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2505456" y="4736592"/>
            <a:ext cx="21579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73168" y="4736592"/>
            <a:ext cx="2286000" cy="749808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4882896" y="4736592"/>
            <a:ext cx="20665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059168" y="4736592"/>
            <a:ext cx="2103120" cy="749808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7168896" y="4736592"/>
            <a:ext cx="18836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제한적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162288" y="4736592"/>
            <a:ext cx="2459736" cy="749808"/>
          </a:xfrm>
          <a:prstGeom prst="rect">
            <a:avLst/>
          </a:prstGeom>
          <a:solidFill>
            <a:srgbClr val="FBF3E2"/>
          </a:solidFill>
          <a:ln/>
        </p:spPr>
      </p:sp>
      <p:sp>
        <p:nvSpPr>
          <p:cNvPr id="46" name="Text 44"/>
          <p:cNvSpPr/>
          <p:nvPr/>
        </p:nvSpPr>
        <p:spPr>
          <a:xfrm>
            <a:off x="9272016" y="4736592"/>
            <a:ext cx="2240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ValueScope·CRM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— 도메인 × 엔지니어링의 균형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엔지니어만 있어도, 없어도 약점. 브링은 현장·개발·하드웨어가 균형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3502152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15084" y="205740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12213B"/>
          </a:solidFill>
          <a:ln/>
        </p:spPr>
      </p:sp>
      <p:sp>
        <p:nvSpPr>
          <p:cNvPr id="7" name="Text 5"/>
          <p:cNvSpPr/>
          <p:nvPr/>
        </p:nvSpPr>
        <p:spPr>
          <a:xfrm>
            <a:off x="1815084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49808" y="320040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서창환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3584448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· 영업 · 현장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4023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토목(교량연구실)·경진대회 수상·공공 실증 경험. 현장·중개·상권 도메인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502152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91556" y="205740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12213B"/>
          </a:solidFill>
          <a:ln/>
        </p:spPr>
      </p:sp>
      <p:sp>
        <p:nvSpPr>
          <p:cNvPr id="13" name="Text 11"/>
          <p:cNvSpPr/>
          <p:nvPr/>
        </p:nvSpPr>
        <p:spPr>
          <a:xfrm>
            <a:off x="5591556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26280" y="320040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6280" y="3584448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 · CRM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4023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BRING-CRM·케이스 시스템·AI 민원 분류·운영 자동화 개발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19872" y="1737360"/>
            <a:ext cx="3502152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68028" y="205740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12213B"/>
          </a:solidFill>
          <a:ln/>
        </p:spPr>
      </p:sp>
      <p:sp>
        <p:nvSpPr>
          <p:cNvPr id="19" name="Text 17"/>
          <p:cNvSpPr/>
          <p:nvPr/>
        </p:nvSpPr>
        <p:spPr>
          <a:xfrm>
            <a:off x="9368028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302752" y="320040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 중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2752" y="3584448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 · IoT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48472" y="4023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하드웨어·IoT·계측. 밸류업/에너지 실증 연계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재무 — 규모별 손익과 손익분기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정직한 모델: 규모를 무작정 키우면 함정이 있다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691640"/>
          <a:ext cx="7315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47888" y="1783080"/>
            <a:ext cx="3374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47888" y="2148840"/>
            <a:ext cx="31912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35~40동에서 손익분기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47888" y="2770632"/>
            <a:ext cx="3374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5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70동 함정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47888" y="3136392"/>
            <a:ext cx="31912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56~75동은 오히려 적자 — 계약속도 관리 필요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47888" y="3758184"/>
            <a:ext cx="3374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100동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47888" y="4123944"/>
            <a:ext cx="31912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+256만 · 영업이익률 17.8%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47888" y="4745736"/>
            <a:ext cx="3374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이익의 44%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47888" y="5111496"/>
            <a:ext cx="31912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결합서비스에서 발생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 로드맵 — 숫자 게이트로만 전진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단계는 감정이 아니라 숫자로 넘어간다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41248" y="2221992"/>
            <a:ext cx="10506456" cy="0"/>
          </a:xfrm>
          <a:prstGeom prst="line">
            <a:avLst/>
          </a:prstGeom>
          <a:noFill/>
          <a:ln w="25400">
            <a:solidFill>
              <a:srgbClr val="E1E6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4193" y="192024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1544193" y="19202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788920"/>
            <a:ext cx="2558034" cy="2194560"/>
          </a:xfrm>
          <a:prstGeom prst="roundRect">
            <a:avLst>
              <a:gd name="adj" fmla="val 3750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999232"/>
            <a:ext cx="22288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증거 만들기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493008"/>
            <a:ext cx="219227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6동 · 단위경제 검증 · 매뉴얼 v1.0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6547" y="192024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12213B"/>
          </a:solidFill>
          <a:ln/>
        </p:spPr>
      </p:sp>
      <p:sp>
        <p:nvSpPr>
          <p:cNvPr id="12" name="Text 10"/>
          <p:cNvSpPr/>
          <p:nvPr/>
        </p:nvSpPr>
        <p:spPr>
          <a:xfrm>
            <a:off x="4376547" y="19202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99282" y="2788920"/>
            <a:ext cx="2558034" cy="2194560"/>
          </a:xfrm>
          <a:prstGeom prst="roundRect">
            <a:avLst>
              <a:gd name="adj" fmla="val 3750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63874" y="2999232"/>
            <a:ext cx="22288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BEP 도달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82162" y="3493008"/>
            <a:ext cx="219227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35~40동 · 신규 월고정 50만+ · 결합률 70%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08901" y="192024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12213B"/>
          </a:solidFill>
          <a:ln/>
        </p:spPr>
      </p:sp>
      <p:sp>
        <p:nvSpPr>
          <p:cNvPr id="17" name="Text 15"/>
          <p:cNvSpPr/>
          <p:nvPr/>
        </p:nvSpPr>
        <p:spPr>
          <a:xfrm>
            <a:off x="7208901" y="19202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31636" y="2788920"/>
            <a:ext cx="2558034" cy="2194560"/>
          </a:xfrm>
          <a:prstGeom prst="roundRect">
            <a:avLst>
              <a:gd name="adj" fmla="val 3750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96228" y="2999232"/>
            <a:ext cx="22288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투자·확장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14516" y="3493008"/>
            <a:ext cx="219227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원주 80~100동 · 대표없이 80% · 연매출 1.7~2억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41255" y="192024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12213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41255" y="19202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063990" y="2788920"/>
            <a:ext cx="2558034" cy="2194560"/>
          </a:xfrm>
          <a:prstGeom prst="roundRect">
            <a:avLst>
              <a:gd name="adj" fmla="val 3750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28582" y="2999232"/>
            <a:ext cx="22288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확장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46870" y="3493008"/>
            <a:ext cx="219227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춘천 POC5→50 · 복제 트리거 3조건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EXIT 시나리오 — 회수 경로를 먼저 그린다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VC는 EXIT이 보이지 않으면 투자하지 않는다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571750" cy="3200400"/>
          </a:xfrm>
          <a:prstGeom prst="roundRect">
            <a:avLst>
              <a:gd name="adj" fmla="val 3200"/>
            </a:avLst>
          </a:prstGeom>
          <a:solidFill>
            <a:srgbClr val="FBF3E2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039112"/>
            <a:ext cx="22059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M&amp;A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9808" y="256032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5603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 1순위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3063240"/>
            <a:ext cx="220599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프롭테크·부동산·건물관리 대기업에 데이터+운영망 매각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94710" y="1783080"/>
            <a:ext cx="2571750" cy="3200400"/>
          </a:xfrm>
          <a:prstGeom prst="roundRect">
            <a:avLst>
              <a:gd name="adj" fmla="val 3200"/>
            </a:avLst>
          </a:prstGeom>
          <a:solidFill>
            <a:srgbClr val="FBF3E2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77590" y="2039112"/>
            <a:ext cx="22059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구주매각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577590" y="256032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3577590" y="25603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현실적 회수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77590" y="3063240"/>
            <a:ext cx="220599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후속 라운드 시 초기투자자 구주 매각 (국내 EXIT 다수)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22492" y="1783080"/>
            <a:ext cx="2571750" cy="32004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5372" y="2039112"/>
            <a:ext cx="22059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IPO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405372" y="256032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7ECF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5372" y="25603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 지향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5372" y="3063240"/>
            <a:ext cx="220599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다도시 플랫폼화 시 코스닥 — 일반상장(이익 실현) 트랙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50274" y="1783080"/>
            <a:ext cx="2571750" cy="32004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C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33154" y="2039112"/>
            <a:ext cx="22059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1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상환 (RCPS)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9233154" y="256032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7ECF4"/>
          </a:solidFill>
          <a:ln/>
        </p:spPr>
      </p:sp>
      <p:sp>
        <p:nvSpPr>
          <p:cNvPr id="23" name="Text 21"/>
          <p:cNvSpPr/>
          <p:nvPr/>
        </p:nvSpPr>
        <p:spPr>
          <a:xfrm>
            <a:off x="9233154" y="25603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안전장치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33154" y="3063240"/>
            <a:ext cx="220599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흑자 전환 후 이익잉여금 = 상환 여력 (플랜B)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516636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초기투자자의 현실적 회수는 M&amp;A·구주매각. IPO는 성장 path 정렬 대상 — 선언만으론 안 된다.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&amp; 대응 — 약점을 먼저 내보인다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VC는 약점을 아는 창업자를 신뢰한다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55096" cy="786384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87452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6E7E7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874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5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98448" y="1691640"/>
            <a:ext cx="4480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규모의 함정 (56~75동 적자구간)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61888" y="1691640"/>
            <a:ext cx="556869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BEP 직후 결합서비스 중심으로 계약속도 관리, 70동 구간 빠르게 통과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4088" y="266090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6E7E7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60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5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98448" y="2478024"/>
            <a:ext cx="4480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의존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61888" y="2478024"/>
            <a:ext cx="556869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승인 한도·권한 문서화 + 인력 채용으로 ‘대표없이 운영 80%’ 달성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264408"/>
            <a:ext cx="11055096" cy="786384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04088" y="344728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6E7E7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4472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5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98448" y="3264408"/>
            <a:ext cx="4480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부동산업 업종규제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961888" y="3264408"/>
            <a:ext cx="556869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지원사업 신청 전 온판상담소로 업종 자격 확인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04088" y="423367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6E7E7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4233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5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8448" y="4050792"/>
            <a:ext cx="4480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초기멤버 지분 미합의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961888" y="4050792"/>
            <a:ext cx="556869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라운드 전 캡테이블·역할·보상 서면 확정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4837176"/>
            <a:ext cx="11055096" cy="786384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704088" y="50200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6E7E7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" y="50200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5B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98448" y="4837176"/>
            <a:ext cx="4480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할인가 고착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961888" y="4837176"/>
            <a:ext cx="556869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권역별 시세표 분리·정찰제 유지로 확장 시 가격 방어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제안 — 1억으로 무엇을 여는가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Pre-money 9억 · 지분 10% · 자립 유닛이코노믹스 검증과 확장에 투입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4688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1억 원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66928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Pre-money 9억 · Post 10억 · 지분 10%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4114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4114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  </a:t>
            </a:r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의존 해소 — 운영·현장 채용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46817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" y="46817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 </a:t>
            </a:r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CRM·데이터 자산화·ValueScope 고도화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524865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" y="524865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춘천 사전진입  </a:t>
            </a:r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5동·파트너 확보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19088" y="2286000"/>
          <a:ext cx="5202936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1136599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— ‘준비돼 있음’의 증거 창고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깊은 질문에 꺼내는 backdata. 대부분 초기 스타트업이 갖지 못한 것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A1 </a:t>
            </a:r>
            <a:pPr indent="0" marL="0">
              <a:buNone/>
            </a:pPr>
            <a:r>
              <a:rPr lang="en-US" sz="1250" dirty="0">
                <a:solidFill>
                  <a:srgbClr val="D7DF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재무모델·민감도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343400" y="2331720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A2 </a:t>
            </a:r>
            <a:pPr indent="0" marL="0">
              <a:buNone/>
            </a:pPr>
            <a:r>
              <a:rPr lang="en-US" sz="1250" dirty="0">
                <a:solidFill>
                  <a:srgbClr val="D7DF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6동 유닛이코노믹스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119872" y="2331720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A3 </a:t>
            </a:r>
            <a:pPr indent="0" marL="0">
              <a:buNone/>
            </a:pPr>
            <a:r>
              <a:rPr lang="en-US" sz="1250" dirty="0">
                <a:solidFill>
                  <a:srgbClr val="D7DF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 타임로그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2862072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A4 </a:t>
            </a:r>
            <a:pPr indent="0" marL="0">
              <a:buNone/>
            </a:pPr>
            <a:r>
              <a:rPr lang="en-US" sz="1250" dirty="0">
                <a:solidFill>
                  <a:srgbClr val="D7DF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캡테이블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43400" y="2862072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A5 </a:t>
            </a:r>
            <a:pPr indent="0" marL="0">
              <a:buNone/>
            </a:pPr>
            <a:r>
              <a:rPr lang="en-US" sz="1250" dirty="0">
                <a:solidFill>
                  <a:srgbClr val="D7DF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ValueScope 데이터·엔진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19872" y="2862072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A6 </a:t>
            </a:r>
            <a:pPr indent="0" marL="0">
              <a:buNone/>
            </a:pPr>
            <a:r>
              <a:rPr lang="en-US" sz="1250" dirty="0">
                <a:solidFill>
                  <a:srgbClr val="D7DF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SOP 26종·운영매뉴얼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3392424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A7 </a:t>
            </a:r>
            <a:pPr indent="0" marL="0">
              <a:buNone/>
            </a:pPr>
            <a:r>
              <a:rPr lang="en-US" sz="1250" dirty="0">
                <a:solidFill>
                  <a:srgbClr val="D7DF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계약·법무 준수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43400" y="3392424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A8 </a:t>
            </a:r>
            <a:pPr indent="0" marL="0">
              <a:buNone/>
            </a:pPr>
            <a:r>
              <a:rPr lang="en-US" sz="1250" dirty="0">
                <a:solidFill>
                  <a:srgbClr val="D7DF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정부지원 4건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19872" y="3392424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A9 </a:t>
            </a:r>
            <a:pPr indent="0" marL="0">
              <a:buNone/>
            </a:pPr>
            <a:r>
              <a:rPr lang="en-US" sz="1250" dirty="0">
                <a:solidFill>
                  <a:srgbClr val="D7DF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부결 24 자가진단표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3922776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A1 </a:t>
            </a:r>
            <a:pPr indent="0" marL="0">
              <a:buNone/>
            </a:pPr>
            <a:r>
              <a:rPr lang="en-US" sz="1250" dirty="0">
                <a:solidFill>
                  <a:srgbClr val="D7DF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고객 레퍼런스·현장 증빙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43400" y="3922776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A1 </a:t>
            </a:r>
            <a:pPr indent="0" marL="0">
              <a:buNone/>
            </a:pPr>
            <a:r>
              <a:rPr lang="en-US" sz="1250" dirty="0">
                <a:solidFill>
                  <a:srgbClr val="D7DF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시장 데이터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19872" y="3922776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A1 </a:t>
            </a:r>
            <a:pPr indent="0" marL="0">
              <a:buNone/>
            </a:pPr>
            <a:r>
              <a:rPr lang="en-US" sz="1250" dirty="0">
                <a:solidFill>
                  <a:srgbClr val="D7DF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밸류업 실증 리포트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4453128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A1 </a:t>
            </a:r>
            <a:pPr indent="0" marL="0">
              <a:buNone/>
            </a:pPr>
            <a:r>
              <a:rPr lang="en-US" sz="1250" dirty="0">
                <a:solidFill>
                  <a:srgbClr val="D7DF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팀 이력·조직도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43400" y="4453128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A1 </a:t>
            </a:r>
            <a:pPr indent="0" marL="0">
              <a:buNone/>
            </a:pPr>
            <a:r>
              <a:rPr lang="en-US" sz="1250" dirty="0">
                <a:solidFill>
                  <a:srgbClr val="D7DF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리스크 &amp; 대응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19872" y="4453128"/>
            <a:ext cx="3502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A1 </a:t>
            </a:r>
            <a:pPr indent="0" marL="0">
              <a:buNone/>
            </a:pPr>
            <a:r>
              <a:rPr lang="en-US" sz="1250" dirty="0">
                <a:solidFill>
                  <a:srgbClr val="D7DF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자금 사용계획 상세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623560"/>
            <a:ext cx="11055096" cy="0"/>
          </a:xfrm>
          <a:prstGeom prst="line">
            <a:avLst/>
          </a:prstGeom>
          <a:noFill/>
          <a:ln w="12700">
            <a:solidFill>
              <a:srgbClr val="2C3E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576072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브링엔지니어링 · 대표 서창환 · rancemo858@naver.com · 010-6566-3603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6144768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만들고 있는 관리체계입니다.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브링케어 IR</dc:title>
  <dc:subject>PptxGenJS Presentation</dc:subject>
  <dc:creator>브링엔지니어링</dc:creator>
  <cp:lastModifiedBy>브링엔지니어링</cp:lastModifiedBy>
  <cp:revision>1</cp:revision>
  <dcterms:created xsi:type="dcterms:W3CDTF">2026-08-21T13:42:56Z</dcterms:created>
  <dcterms:modified xsi:type="dcterms:W3CDTF">2026-08-21T13:42:56Z</dcterms:modified>
</cp:coreProperties>
</file>